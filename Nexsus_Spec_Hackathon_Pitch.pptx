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6" y="3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nsh Bharti" userId="75d366b9e18f06c6" providerId="LiveId" clId="{E2A94716-0F52-4D3F-874A-98314769ACF6}"/>
    <pc:docChg chg="modSld">
      <pc:chgData name="Shreyansh Bharti" userId="75d366b9e18f06c6" providerId="LiveId" clId="{E2A94716-0F52-4D3F-874A-98314769ACF6}" dt="2026-08-23T16:14:42.730" v="16" actId="14100"/>
      <pc:docMkLst>
        <pc:docMk/>
      </pc:docMkLst>
      <pc:sldChg chg="modSp mod">
        <pc:chgData name="Shreyansh Bharti" userId="75d366b9e18f06c6" providerId="LiveId" clId="{E2A94716-0F52-4D3F-874A-98314769ACF6}" dt="2026-08-23T16:13:12.750" v="0" actId="14100"/>
        <pc:sldMkLst>
          <pc:docMk/>
          <pc:sldMk cId="0" sldId="256"/>
        </pc:sldMkLst>
        <pc:spChg chg="mod">
          <ac:chgData name="Shreyansh Bharti" userId="75d366b9e18f06c6" providerId="LiveId" clId="{E2A94716-0F52-4D3F-874A-98314769ACF6}" dt="2026-08-23T16:13:12.750" v="0" actId="14100"/>
          <ac:spMkLst>
            <pc:docMk/>
            <pc:sldMk cId="0" sldId="256"/>
            <ac:spMk id="99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3:17.878" v="1" actId="14100"/>
        <pc:sldMkLst>
          <pc:docMk/>
          <pc:sldMk cId="0" sldId="257"/>
        </pc:sldMkLst>
        <pc:spChg chg="mod">
          <ac:chgData name="Shreyansh Bharti" userId="75d366b9e18f06c6" providerId="LiveId" clId="{E2A94716-0F52-4D3F-874A-98314769ACF6}" dt="2026-08-23T16:13:17.878" v="1" actId="14100"/>
          <ac:spMkLst>
            <pc:docMk/>
            <pc:sldMk cId="0" sldId="257"/>
            <ac:spMk id="106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3:24.894" v="4" actId="14100"/>
        <pc:sldMkLst>
          <pc:docMk/>
          <pc:sldMk cId="0" sldId="258"/>
        </pc:sldMkLst>
        <pc:spChg chg="mod">
          <ac:chgData name="Shreyansh Bharti" userId="75d366b9e18f06c6" providerId="LiveId" clId="{E2A94716-0F52-4D3F-874A-98314769ACF6}" dt="2026-08-23T16:13:24.894" v="4" actId="14100"/>
          <ac:spMkLst>
            <pc:docMk/>
            <pc:sldMk cId="0" sldId="258"/>
            <ac:spMk id="112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3:29.520" v="5" actId="14100"/>
        <pc:sldMkLst>
          <pc:docMk/>
          <pc:sldMk cId="0" sldId="259"/>
        </pc:sldMkLst>
        <pc:spChg chg="mod">
          <ac:chgData name="Shreyansh Bharti" userId="75d366b9e18f06c6" providerId="LiveId" clId="{E2A94716-0F52-4D3F-874A-98314769ACF6}" dt="2026-08-23T16:13:29.520" v="5" actId="14100"/>
          <ac:spMkLst>
            <pc:docMk/>
            <pc:sldMk cId="0" sldId="259"/>
            <ac:spMk id="118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3:35.763" v="6" actId="14100"/>
        <pc:sldMkLst>
          <pc:docMk/>
          <pc:sldMk cId="0" sldId="260"/>
        </pc:sldMkLst>
        <pc:spChg chg="mod">
          <ac:chgData name="Shreyansh Bharti" userId="75d366b9e18f06c6" providerId="LiveId" clId="{E2A94716-0F52-4D3F-874A-98314769ACF6}" dt="2026-08-23T16:13:35.763" v="6" actId="14100"/>
          <ac:spMkLst>
            <pc:docMk/>
            <pc:sldMk cId="0" sldId="260"/>
            <ac:spMk id="124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3:41.675" v="7" actId="14100"/>
        <pc:sldMkLst>
          <pc:docMk/>
          <pc:sldMk cId="0" sldId="261"/>
        </pc:sldMkLst>
        <pc:spChg chg="mod">
          <ac:chgData name="Shreyansh Bharti" userId="75d366b9e18f06c6" providerId="LiveId" clId="{E2A94716-0F52-4D3F-874A-98314769ACF6}" dt="2026-08-23T16:13:41.675" v="7" actId="14100"/>
          <ac:spMkLst>
            <pc:docMk/>
            <pc:sldMk cId="0" sldId="261"/>
            <ac:spMk id="130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3:48.287" v="8" actId="14100"/>
        <pc:sldMkLst>
          <pc:docMk/>
          <pc:sldMk cId="0" sldId="262"/>
        </pc:sldMkLst>
        <pc:spChg chg="mod">
          <ac:chgData name="Shreyansh Bharti" userId="75d366b9e18f06c6" providerId="LiveId" clId="{E2A94716-0F52-4D3F-874A-98314769ACF6}" dt="2026-08-23T16:13:48.287" v="8" actId="14100"/>
          <ac:spMkLst>
            <pc:docMk/>
            <pc:sldMk cId="0" sldId="262"/>
            <ac:spMk id="136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3:55.660" v="9" actId="14100"/>
        <pc:sldMkLst>
          <pc:docMk/>
          <pc:sldMk cId="0" sldId="263"/>
        </pc:sldMkLst>
        <pc:spChg chg="mod">
          <ac:chgData name="Shreyansh Bharti" userId="75d366b9e18f06c6" providerId="LiveId" clId="{E2A94716-0F52-4D3F-874A-98314769ACF6}" dt="2026-08-23T16:13:55.660" v="9" actId="14100"/>
          <ac:spMkLst>
            <pc:docMk/>
            <pc:sldMk cId="0" sldId="263"/>
            <ac:spMk id="142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4:04.301" v="10" actId="14100"/>
        <pc:sldMkLst>
          <pc:docMk/>
          <pc:sldMk cId="0" sldId="264"/>
        </pc:sldMkLst>
        <pc:spChg chg="mod">
          <ac:chgData name="Shreyansh Bharti" userId="75d366b9e18f06c6" providerId="LiveId" clId="{E2A94716-0F52-4D3F-874A-98314769ACF6}" dt="2026-08-23T16:14:04.301" v="10" actId="14100"/>
          <ac:spMkLst>
            <pc:docMk/>
            <pc:sldMk cId="0" sldId="264"/>
            <ac:spMk id="148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4:10.233" v="11" actId="14100"/>
        <pc:sldMkLst>
          <pc:docMk/>
          <pc:sldMk cId="0" sldId="265"/>
        </pc:sldMkLst>
        <pc:spChg chg="mod">
          <ac:chgData name="Shreyansh Bharti" userId="75d366b9e18f06c6" providerId="LiveId" clId="{E2A94716-0F52-4D3F-874A-98314769ACF6}" dt="2026-08-23T16:14:10.233" v="11" actId="14100"/>
          <ac:spMkLst>
            <pc:docMk/>
            <pc:sldMk cId="0" sldId="265"/>
            <ac:spMk id="154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4:15.262" v="12" actId="14100"/>
        <pc:sldMkLst>
          <pc:docMk/>
          <pc:sldMk cId="0" sldId="266"/>
        </pc:sldMkLst>
        <pc:spChg chg="mod">
          <ac:chgData name="Shreyansh Bharti" userId="75d366b9e18f06c6" providerId="LiveId" clId="{E2A94716-0F52-4D3F-874A-98314769ACF6}" dt="2026-08-23T16:14:15.262" v="12" actId="14100"/>
          <ac:spMkLst>
            <pc:docMk/>
            <pc:sldMk cId="0" sldId="266"/>
            <ac:spMk id="160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4:20.093" v="13" actId="14100"/>
        <pc:sldMkLst>
          <pc:docMk/>
          <pc:sldMk cId="0" sldId="267"/>
        </pc:sldMkLst>
        <pc:spChg chg="mod">
          <ac:chgData name="Shreyansh Bharti" userId="75d366b9e18f06c6" providerId="LiveId" clId="{E2A94716-0F52-4D3F-874A-98314769ACF6}" dt="2026-08-23T16:14:20.093" v="13" actId="14100"/>
          <ac:spMkLst>
            <pc:docMk/>
            <pc:sldMk cId="0" sldId="267"/>
            <ac:spMk id="166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4:32.273" v="14" actId="14100"/>
        <pc:sldMkLst>
          <pc:docMk/>
          <pc:sldMk cId="0" sldId="268"/>
        </pc:sldMkLst>
        <pc:spChg chg="mod">
          <ac:chgData name="Shreyansh Bharti" userId="75d366b9e18f06c6" providerId="LiveId" clId="{E2A94716-0F52-4D3F-874A-98314769ACF6}" dt="2026-08-23T16:14:32.273" v="14" actId="14100"/>
          <ac:spMkLst>
            <pc:docMk/>
            <pc:sldMk cId="0" sldId="268"/>
            <ac:spMk id="172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4:37.461" v="15" actId="14100"/>
        <pc:sldMkLst>
          <pc:docMk/>
          <pc:sldMk cId="0" sldId="269"/>
        </pc:sldMkLst>
        <pc:spChg chg="mod">
          <ac:chgData name="Shreyansh Bharti" userId="75d366b9e18f06c6" providerId="LiveId" clId="{E2A94716-0F52-4D3F-874A-98314769ACF6}" dt="2026-08-23T16:14:37.461" v="15" actId="14100"/>
          <ac:spMkLst>
            <pc:docMk/>
            <pc:sldMk cId="0" sldId="269"/>
            <ac:spMk id="178" creationId="{00000000-0000-0000-0000-000000000000}"/>
          </ac:spMkLst>
        </pc:spChg>
      </pc:sldChg>
      <pc:sldChg chg="modSp mod">
        <pc:chgData name="Shreyansh Bharti" userId="75d366b9e18f06c6" providerId="LiveId" clId="{E2A94716-0F52-4D3F-874A-98314769ACF6}" dt="2026-08-23T16:14:42.730" v="16" actId="14100"/>
        <pc:sldMkLst>
          <pc:docMk/>
          <pc:sldMk cId="0" sldId="270"/>
        </pc:sldMkLst>
        <pc:spChg chg="mod">
          <ac:chgData name="Shreyansh Bharti" userId="75d366b9e18f06c6" providerId="LiveId" clId="{E2A94716-0F52-4D3F-874A-98314769ACF6}" dt="2026-08-23T16:14:42.730" v="16" actId="14100"/>
          <ac:spMkLst>
            <pc:docMk/>
            <pc:sldMk cId="0" sldId="270"/>
            <ac:spMk id="1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f97113ba4d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f97113ba4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f97113ba4d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f97113ba4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f97113ba4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f97113ba4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f97113ba4d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f97113ba4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f97113ba4d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f97113ba4d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f97113ba4d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f97113ba4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f97113ba4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f97113ba4d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/>
          <p:cNvSpPr/>
          <p:nvPr/>
        </p:nvSpPr>
        <p:spPr>
          <a:xfrm>
            <a:off x="0" y="-1"/>
            <a:ext cx="9466289" cy="5299023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UNIHACK 2026 // PROTOTYPE EVALUATION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UniHack Submission Guidelines &amp; Compliance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Official evaluation compliance statement for Team Nexsus prototype submission.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457200" y="1371600"/>
            <a:ext cx="2926080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000" b="1">
                <a:solidFill>
                  <a:srgbClr val="DC2626"/>
                </a:solidFill>
                <a:latin typeface="Segoe UI"/>
              </a:defRPr>
            </a:pPr>
            <a:r>
              <a:t>PROTOTYPE DECK</a:t>
            </a:r>
          </a:p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Nexsus.Spec</a:t>
            </a:r>
          </a:p>
          <a:p>
            <a:pPr>
              <a:spcAft>
                <a:spcPts val="16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Universal AI Specification Forge</a:t>
            </a:r>
          </a:p>
          <a:p>
            <a:pPr>
              <a:spcAft>
                <a:spcPts val="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nexsus-spec.vercel.app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080" y="3291840"/>
            <a:ext cx="256032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STATUS: PRODUCTION LIVE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566160" y="1371600"/>
            <a:ext cx="433791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 OFFICIAL COMPLIANCE CHECKLIST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DC2626"/>
                </a:solidFill>
              </a:rPr>
              <a:t>✔ Strict Template Structure
</a:t>
            </a:r>
            <a:r>
              <a:rPr sz="1050">
                <a:solidFill>
                  <a:srgbClr val="A0AEC0"/>
                </a:solidFill>
              </a:rPr>
              <a:t>100% compliant with the 15 mandatory section slides of the UniHack Prototype Template.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DC2626"/>
                </a:solidFill>
              </a:rPr>
              <a:t>✔ Project Title &amp; Scope
</a:t>
            </a:r>
            <a:r>
              <a:rPr sz="1050">
                <a:solidFill>
                  <a:srgbClr val="A0AEC0"/>
                </a:solidFill>
              </a:rPr>
              <a:t>Nexsus.Spec — Universal AI Industrial Product Specification Forge.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DC2626"/>
                </a:solidFill>
              </a:rPr>
              <a:t>✔ Live Feasible Prototype
</a:t>
            </a:r>
            <a:r>
              <a:rPr sz="1050">
                <a:solidFill>
                  <a:srgbClr val="A0AEC0"/>
                </a:solidFill>
              </a:rPr>
              <a:t>Full-stack production web application deployed live at https://nexsus-spec.vercel.app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DC2626"/>
                </a:solidFill>
              </a:rPr>
              <a:t>✔ Technical Architecture
</a:t>
            </a:r>
            <a:r>
              <a:rPr sz="1050">
                <a:solidFill>
                  <a:srgbClr val="A0AEC0"/>
                </a:solidFill>
              </a:rPr>
              <a:t>Includes 5-stage forge assembly, multi-provider LLM failover, Shift+D offline engine, and deliverable links.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/>
          <p:cNvSpPr/>
          <p:nvPr/>
        </p:nvSpPr>
        <p:spPr>
          <a:xfrm>
            <a:off x="0" y="0"/>
            <a:ext cx="10702977" cy="5613816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TEAM PROFILE // HACKATHON MILESTONE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Meet Team Nexsus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Aspiring developers building production-grade AI infrastructure for hardware engineering.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457200" y="1371600"/>
            <a:ext cx="3474720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👥 TEAM OVERVIEW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18096"/>
                </a:solidFill>
              </a:rPr>
              <a:t>Team Name: </a:t>
            </a:r>
            <a:r>
              <a:rPr sz="1050" b="1">
                <a:solidFill>
                  <a:srgbClr val="FFFFFF"/>
                </a:solidFill>
              </a:rPr>
              <a:t>Team Nexsus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18096"/>
                </a:solidFill>
              </a:rPr>
              <a:t>Team Leader: </a:t>
            </a:r>
            <a:r>
              <a:rPr sz="1050" b="1">
                <a:solidFill>
                  <a:srgbClr val="FFFFFF"/>
                </a:solidFill>
              </a:rPr>
              <a:t>Shreyash / Team Nexsus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18096"/>
                </a:solidFill>
              </a:rPr>
              <a:t>Project Title: </a:t>
            </a:r>
            <a:r>
              <a:rPr sz="1050" b="1">
                <a:solidFill>
                  <a:srgbClr val="FFFFFF"/>
                </a:solidFill>
              </a:rPr>
              <a:t>Nexsus.Spec (SpecForge AI)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18096"/>
                </a:solidFill>
              </a:rPr>
              <a:t>Live Deployment: </a:t>
            </a:r>
            <a:r>
              <a:rPr sz="1050" b="1">
                <a:solidFill>
                  <a:srgbClr val="EF4444"/>
                </a:solidFill>
              </a:rPr>
              <a:t>nexsus-spec.vercel.app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18096"/>
                </a:solidFill>
              </a:rPr>
              <a:t>GitHub Repo: </a:t>
            </a:r>
            <a:r>
              <a:rPr sz="1050" b="1">
                <a:solidFill>
                  <a:srgbClr val="FFFFFF"/>
                </a:solidFill>
              </a:rPr>
              <a:t>github.com/abhinav2050790/final-production-build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114800" y="1371600"/>
            <a:ext cx="378927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🚀 DEVELOPER MILESTONE</a:t>
            </a:r>
          </a:p>
          <a:p>
            <a:pPr>
              <a:spcAft>
                <a:spcPts val="1000"/>
              </a:spcAft>
              <a:defRPr sz="1200" i="1">
                <a:solidFill>
                  <a:srgbClr val="DC2626"/>
                </a:solidFill>
                <a:latin typeface="Segoe UI"/>
              </a:defRPr>
            </a:pPr>
            <a:r>
              <a:t>“Every master was once a beginner who refused to give up.”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• First Hackathon Challenge: </a:t>
            </a:r>
            <a:r>
              <a:rPr sz="1000">
                <a:solidFill>
                  <a:srgbClr val="A0AEC0"/>
                </a:solidFill>
              </a:rPr>
              <a:t>Learned Next.js 14, Tailwind CSS, Three.js, and LLM reasoning models to ship a complete application.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• Engineering Resilience: </a:t>
            </a:r>
            <a:r>
              <a:rPr sz="1000">
                <a:solidFill>
                  <a:srgbClr val="A0AEC0"/>
                </a:solidFill>
              </a:rPr>
              <a:t>Designed zero-downtime multi-provider failover (Groq -&gt; Gemini -&gt; OpenRouter) + Shift+D offline engine for 100% demo stability.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/>
          <p:cNvSpPr/>
          <p:nvPr/>
        </p:nvSpPr>
        <p:spPr>
          <a:xfrm>
            <a:off x="-202366" y="-118849"/>
            <a:ext cx="9871022" cy="5597754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EXECUTIVE SUMMARY // PROBLEM &amp; PLATFORM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Brief About Your Solution — Nexsus.Spec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Universal AI specification forge transforming messy datasheets into structured product intelligence.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457200" y="1371600"/>
            <a:ext cx="2326233" cy="9144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~8.5s</a:t>
            </a:r>
          </a:p>
          <a:p>
            <a:pPr algn="ctr">
              <a:defRPr sz="950" b="1">
                <a:solidFill>
                  <a:srgbClr val="A0AEC0"/>
                </a:solidFill>
                <a:latin typeface="Segoe UI"/>
              </a:defRPr>
            </a:pPr>
            <a:r>
              <a:t>Live Groq Extraction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17520" y="1371600"/>
            <a:ext cx="2326233" cy="9144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A0AEC0"/>
                </a:solidFill>
                <a:latin typeface="Segoe UI"/>
              </a:defRPr>
            </a:pPr>
            <a:r>
              <a:t>Guaranteed Uptime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577840" y="1371600"/>
            <a:ext cx="2326233" cy="9144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95%+</a:t>
            </a:r>
          </a:p>
          <a:p>
            <a:pPr algn="ctr">
              <a:defRPr sz="950" b="1">
                <a:solidFill>
                  <a:srgbClr val="A0AEC0"/>
                </a:solidFill>
                <a:latin typeface="Segoe UI"/>
              </a:defRPr>
            </a:pPr>
            <a:r>
              <a:t>Labor Time Saved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57200" y="2423160"/>
            <a:ext cx="7446873" cy="1874519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💡 CORE SOLUTION ARCHITECTURE &amp; VALUE PROPOSITION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• The Industrial Bottleneck: </a:t>
            </a:r>
            <a:r>
              <a:rPr sz="1000">
                <a:solidFill>
                  <a:srgbClr val="A0AEC0"/>
                </a:solidFill>
              </a:rPr>
              <a:t>Technical specs remain trapped in unstructured PDFs, datasheets, and vendor URLs. Transcribing a 100-page catalog takes 40+ human hours.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• Nexsus.Spec Platform: </a:t>
            </a:r>
            <a:r>
              <a:rPr sz="1000">
                <a:solidFill>
                  <a:srgbClr val="A0AEC0"/>
                </a:solidFill>
              </a:rPr>
              <a:t>Ingests raw inputs (10MB PDFs, text, live URLs) and extracts standardized attribute:value pairs (`Input voltage — 230V AC`), features, and use cases.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</a:rPr>
              <a:t>• Enterprise Reliability: </a:t>
            </a:r>
            <a:r>
              <a:rPr sz="1000">
                <a:solidFill>
                  <a:srgbClr val="A0AEC0"/>
                </a:solidFill>
              </a:rPr>
              <a:t>Combines live Groq 120B reasoning models with automatic multi-provider failover (Gemini -&gt; OpenRouter) + instant Shift+D offline deterministic engine.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/>
          <p:nvPr/>
        </p:nvSpPr>
        <p:spPr>
          <a:xfrm>
            <a:off x="0" y="-1"/>
            <a:ext cx="10268262" cy="5381469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EVALUATION CRITERIA // TECHNICAL ENABLERS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Solution Specific Questions &amp; Technical Enablers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Addressing UniHack evaluation criteria for product intelligence, accuracy, and scalability.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457200" y="1371600"/>
            <a:ext cx="232623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     INFORMATION ENRICHMENT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Multi-Input Ingest: </a:t>
            </a:r>
            <a:r>
              <a:rPr sz="950">
                <a:solidFill>
                  <a:srgbClr val="A0AEC0"/>
                </a:solidFill>
              </a:rPr>
              <a:t>Ingests Part#, Brand, PDF datasheets, and live web URLs.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Deep Attribute Mining: </a:t>
            </a:r>
            <a:r>
              <a:rPr sz="950">
                <a:solidFill>
                  <a:srgbClr val="A0AEC0"/>
                </a:solidFill>
              </a:rPr>
              <a:t>Extracts structured spec tables (`Voltage`, `Pressure`).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Context Synthesis: </a:t>
            </a:r>
            <a:r>
              <a:rPr sz="950">
                <a:solidFill>
                  <a:srgbClr val="A0AEC0"/>
                </a:solidFill>
              </a:rPr>
              <a:t>Derives key product features &amp; engineering use cases.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Canonicalization: </a:t>
            </a:r>
            <a:r>
              <a:rPr sz="950">
                <a:solidFill>
                  <a:srgbClr val="A0AEC0"/>
                </a:solidFill>
              </a:rPr>
              <a:t>Standardizes variant keys (`InputVoltage` -&gt; `Input voltage`).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94360" y="1508760"/>
            <a:ext cx="36576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017520" y="1371600"/>
            <a:ext cx="232623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DC2626"/>
                </a:solidFill>
                <a:latin typeface="Segoe UI"/>
              </a:defRPr>
            </a:pPr>
            <a:r>
              <a:t>       ACCURACY &amp; TRUST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Multi-Provider Failover: </a:t>
            </a:r>
            <a:r>
              <a:rPr sz="950">
                <a:solidFill>
                  <a:srgbClr val="A0AEC0"/>
                </a:solidFill>
              </a:rPr>
              <a:t>Groq 120B -&gt; Gemini -&gt; OpenRouter verification chain.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SHA-256 Extraction Cache: </a:t>
            </a:r>
            <a:r>
              <a:rPr sz="950">
                <a:solidFill>
                  <a:srgbClr val="A0AEC0"/>
                </a:solidFill>
              </a:rPr>
              <a:t>Frozen 0-temp cache for &lt;0.7s exact reproducible runs.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Deterministic Engine: </a:t>
            </a:r>
            <a:r>
              <a:rPr sz="950">
                <a:solidFill>
                  <a:srgbClr val="A0AEC0"/>
                </a:solidFill>
              </a:rPr>
              <a:t>Built-in regex parser (`products.ts`) guarantees 0 hallucination.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Data Quality Audit: </a:t>
            </a:r>
            <a:r>
              <a:rPr sz="950">
                <a:solidFill>
                  <a:srgbClr val="A0AEC0"/>
                </a:solidFill>
              </a:rPr>
              <a:t>Automated 0–100 quality score highlighting missing specs.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154680" y="1508760"/>
            <a:ext cx="36576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577840" y="1371600"/>
            <a:ext cx="232623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     ENTERPRISE SCALABILITY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Workerless PDF Parser: </a:t>
            </a:r>
            <a:r>
              <a:rPr sz="950">
                <a:solidFill>
                  <a:srgbClr val="A0AEC0"/>
                </a:solidFill>
              </a:rPr>
              <a:t>Handles 10MB PDFs server-side without worker crashes.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Shift+D Offline Mode: </a:t>
            </a:r>
            <a:r>
              <a:rPr sz="950">
                <a:solidFill>
                  <a:srgbClr val="A0AEC0"/>
                </a:solidFill>
              </a:rPr>
              <a:t>Parses 108+ catalog rows in ~1 second offline.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Cloud Permalinks: </a:t>
            </a:r>
            <a:r>
              <a:rPr sz="950">
                <a:solidFill>
                  <a:srgbClr val="A0AEC0"/>
                </a:solidFill>
              </a:rPr>
              <a:t>Public `/s/[slug]` catalog storage with Google OAuth.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</a:rPr>
              <a:t>• Export Ecosystem: </a:t>
            </a:r>
            <a:r>
              <a:rPr sz="950">
                <a:solidFill>
                  <a:srgbClr val="A0AEC0"/>
                </a:solidFill>
              </a:rPr>
              <a:t>Generates PDF datasheets, CSV tables, JSON, &amp; Markdown.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715000" y="1508760"/>
            <a:ext cx="36576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0" y="-1"/>
            <a:ext cx="9646170" cy="5231567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MARKET DIFFERENTIATION // VALUE USP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Opportunities &amp; Unique Selling Proposition (USP)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Differentiating Nexsus.Spec from static OCR and basic wrapper applications.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457200" y="1371600"/>
            <a:ext cx="3566160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🎯 DIFFERENTIATION &amp; PROBLEM FIT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• How It Differs: </a:t>
            </a:r>
            <a:r>
              <a:rPr sz="1000">
                <a:solidFill>
                  <a:srgbClr val="A0AEC0"/>
                </a:solidFill>
              </a:rPr>
              <a:t>Unlike static OCR or standard LLM wrappers that crash on rate limits, Nexsus.Spec features automatic provider failover (Groq -&gt; Gemini -&gt; OpenRouter) plus instant deterministic offline parsing.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• Problem Solved: </a:t>
            </a:r>
            <a:r>
              <a:rPr sz="1000">
                <a:solidFill>
                  <a:srgbClr val="A0AEC0"/>
                </a:solidFill>
              </a:rPr>
              <a:t>Eliminates tedious manual entry for e-commerce, hardware distributors, and engineering teams, converting unstructured sheets into compare-ready data in seconds.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• Visual &amp; Live Feedback: </a:t>
            </a:r>
            <a:r>
              <a:rPr sz="1000">
                <a:solidFill>
                  <a:srgbClr val="A0AEC0"/>
                </a:solidFill>
              </a:rPr>
              <a:t>Interactive Three.js 3D isometric pipeline visualization streaming NDJSON events directly to the user.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97680" y="1371600"/>
            <a:ext cx="360639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⚡ UNIQUE SELLING PROPOSITION (USP)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• 100% Uptime Guaranteed: </a:t>
            </a:r>
            <a:r>
              <a:rPr sz="1000">
                <a:solidFill>
                  <a:srgbClr val="A0AEC0"/>
                </a:solidFill>
              </a:rPr>
              <a:t>Zero live demo crash risk. If LLM APIs fail or rate limit, the instant Shift+D offline parser takes over seamlessly.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• Sub-Second Reproducibility: </a:t>
            </a:r>
            <a:r>
              <a:rPr sz="1000">
                <a:solidFill>
                  <a:srgbClr val="A0AEC0"/>
                </a:solidFill>
              </a:rPr>
              <a:t>SHA-256 frozen extraction cache delivers instant &lt;0.7s repeat runs with zero non-deterministic variance.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</a:rPr>
              <a:t>• Full Lifecycle Ecosystem: </a:t>
            </a:r>
            <a:r>
              <a:rPr sz="1000">
                <a:solidFill>
                  <a:srgbClr val="A0AEC0"/>
                </a:solidFill>
              </a:rPr>
              <a:t>Ingest -&gt; 5-Stage Forge -&gt; Product Dashboard -&gt; AI Copilot Chat -&gt; Google OAuth Permalinks -&gt; PDF/CSV/MD Export.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29"/>
          <p:cNvSpPr/>
          <p:nvPr/>
        </p:nvSpPr>
        <p:spPr>
          <a:xfrm>
            <a:off x="0" y="-1"/>
            <a:ext cx="9241436" cy="5231567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FEATURE MATRIX // PLATFORM CAPABILITIES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List of Features Offered by Nexsus.Spec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Comprehensive feature suite engineered for procurement teams, distributors, and engineers.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457200" y="1371600"/>
            <a:ext cx="3611880" cy="658368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[INGEST]  Multi-Input Ingest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Workerless PDF parser (10MB limit), raw spec text, &amp; live web URL fetching.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251960" y="1371600"/>
            <a:ext cx="3611880" cy="658368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DC2626"/>
                </a:solidFill>
                <a:latin typeface="Segoe UI"/>
              </a:defRPr>
            </a:pPr>
            <a:r>
              <a:t>[FORGE]  5-Stage AI Forge Assembly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Ingest -&gt; Extract -&gt; Organize -&gt; Check -&gt; Export with live 3D isometric visualization.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57200" y="2084832"/>
            <a:ext cx="3611880" cy="658368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DC2626"/>
                </a:solidFill>
                <a:latin typeface="Segoe UI"/>
              </a:defRPr>
            </a:pPr>
            <a:r>
              <a:t>[FAILOVER]  Enterprise AI Failover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Groq 120B -&gt; Gemini -&gt; OpenRouter failover chain handling HTTP 429 rate limits.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251960" y="2084832"/>
            <a:ext cx="3611880" cy="658368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DC2626"/>
                </a:solidFill>
                <a:latin typeface="Segoe UI"/>
              </a:defRPr>
            </a:pPr>
            <a:r>
              <a:t>[OFFLINE]  Instant Offline Mode (Shift+D)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Built-in deterministic regex &amp; catalog row parser for instant sub-second offline runs.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57200" y="2798064"/>
            <a:ext cx="3611880" cy="658368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[SEARCH]  Multi-Vector Search &amp; Filters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Real-time search across product names, part numbers, attribute names, AND exact values.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251960" y="2798064"/>
            <a:ext cx="3611880" cy="658368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[COMPARE]  Side-by-Side Spec Compare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Interactive spec comparison matrix highlighting attribute differences across selected models.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" y="3511296"/>
            <a:ext cx="3611880" cy="658368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[COPILOT]  AI Specification Copilot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Real-time AI Chat drawer (`ChatPanel.tsx`) allowing users to query extracted catalog data.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251960" y="3511296"/>
            <a:ext cx="3611880" cy="658368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[EXPORTS]  Cloud Permalinks &amp; Export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Google OAuth authentication, public `/s/[slug]` permalinks, and PDF/CSV/JSON/MD exports.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35"/>
          <p:cNvSpPr/>
          <p:nvPr/>
        </p:nvSpPr>
        <p:spPr>
          <a:xfrm>
            <a:off x="0" y="-1"/>
            <a:ext cx="9293902" cy="5231567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ASSEMBLY LINE // PIPELINE WORKFLOW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Process Flow Diagram — 5-Stage Forge Assembly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Live NDJSON streaming orchestrates document ingestion through structured processing stages.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457200" y="1371600"/>
            <a:ext cx="1389888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718096"/>
                </a:solidFill>
                <a:latin typeface="Segoe UI"/>
              </a:defRPr>
            </a:pPr>
            <a:r>
              <a:t>       INGEST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📥 Input Ingest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Segment text, process 10MB PDFs, fetch live URL content.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48640" y="1463040"/>
            <a:ext cx="36576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938528" y="1371600"/>
            <a:ext cx="1389888" cy="2926080"/>
          </a:xfrm>
          <a:prstGeom prst="roundRect">
            <a:avLst/>
          </a:prstGeom>
          <a:solidFill>
            <a:srgbClr val="181C26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       EXTRACT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🔎 AI Extraction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Groq 120B extracts specs, attributes, features &amp; use cases.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029968" y="1463040"/>
            <a:ext cx="36576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419856" y="1371600"/>
            <a:ext cx="1389888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718096"/>
                </a:solidFill>
                <a:latin typeface="Segoe UI"/>
              </a:defRPr>
            </a:pPr>
            <a:r>
              <a:t>       ORGANIZE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🗂️ Canonicalize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Canonicalize keys (`InputVoltage` -&gt; `Input voltage`) &amp; dedupe.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511296" y="1463040"/>
            <a:ext cx="36576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901184" y="1371600"/>
            <a:ext cx="1389888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718096"/>
                </a:solidFill>
                <a:latin typeface="Segoe UI"/>
              </a:defRPr>
            </a:pPr>
            <a:r>
              <a:t>       CHECK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🛡️ Quality Audit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Evaluate spec completeness &amp; assign 0–100 data quality score.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992624" y="1463040"/>
            <a:ext cx="36576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382512" y="1371600"/>
            <a:ext cx="1389888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718096"/>
                </a:solidFill>
                <a:latin typeface="Segoe UI"/>
              </a:defRPr>
            </a:pPr>
            <a:r>
              <a:t>       EXPORT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📦 Output Sync</a:t>
            </a:r>
          </a:p>
          <a:p>
            <a:pPr>
              <a:defRPr sz="950">
                <a:solidFill>
                  <a:srgbClr val="A0AEC0"/>
                </a:solidFill>
                <a:latin typeface="Segoe UI"/>
              </a:defRPr>
            </a:pPr>
            <a:r>
              <a:t>Generate PDF datasheets, CSV tables, JSON trees, &amp; Markdown.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473952" y="1463040"/>
            <a:ext cx="36576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41"/>
          <p:cNvSpPr/>
          <p:nvPr/>
        </p:nvSpPr>
        <p:spPr>
          <a:xfrm>
            <a:off x="0" y="0"/>
            <a:ext cx="9886013" cy="5433934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INTERFACE DESIGN // HIGH-CONTRAST UI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Wireframe &amp; Mock Layout — User Experience Architecture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Stark, Nothing-inspired visual identity built with Next.js 14, Tailwind, and Three.js.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457200" y="137160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🖥️ HERO STUDIO &amp; 3D CANVAS</a:t>
            </a:r>
          </a:p>
          <a:p>
            <a:pPr>
              <a:defRPr sz="1000">
                <a:solidFill>
                  <a:srgbClr val="A0AEC0"/>
                </a:solidFill>
                <a:latin typeface="Segoe UI"/>
              </a:defRPr>
            </a:pPr>
            <a:r>
              <a:t>Input Panel: File Drag-and-drop (PDF 10MB), URL paste input, preset sample buttons.</a:t>
            </a:r>
            <a:br/>
            <a:r>
              <a:t>3D Canvas: Interactive Three.js isometric stage rendering real-time processing particle animations.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251960" y="137160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📊 STATS STRIP &amp; SEARCH BAR</a:t>
            </a:r>
          </a:p>
          <a:p>
            <a:pPr>
              <a:defRPr sz="1000">
                <a:solidFill>
                  <a:srgbClr val="A0AEC0"/>
                </a:solidFill>
                <a:latin typeface="Segoe UI"/>
              </a:defRPr>
            </a:pPr>
            <a:r>
              <a:t>Stats Strip: Instant tally of extracted products, attribute values, unique brands, &amp; dataset completeness score.</a:t>
            </a:r>
            <a:br/>
            <a:r>
              <a:t>Search &amp; Filter: Real-time search across names, part numbers, AND exact spec values (e.g. '230V').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57200" y="283464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⚖️ COMPARE TAB &amp; DETAIL DRAWER</a:t>
            </a:r>
          </a:p>
          <a:p>
            <a:pPr>
              <a:defRPr sz="1000">
                <a:solidFill>
                  <a:srgbClr val="A0AEC0"/>
                </a:solidFill>
                <a:latin typeface="Segoe UI"/>
              </a:defRPr>
            </a:pPr>
            <a:r>
              <a:t>Product Compare Matrix: Side-by-side spec comparison highlighting attribute differences across selected models.</a:t>
            </a:r>
            <a:br/>
            <a:r>
              <a:t>Detail Drawer: Technical inspection displaying spec table, key features, use cases, &amp; raw audit log trace.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251960" y="283464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🤖 AI COPILOT &amp; CLOUD LIBRARY</a:t>
            </a:r>
          </a:p>
          <a:p>
            <a:pPr>
              <a:defRPr sz="1000">
                <a:solidFill>
                  <a:srgbClr val="A0AEC0"/>
                </a:solidFill>
                <a:latin typeface="Segoe UI"/>
              </a:defRPr>
            </a:pPr>
            <a:r>
              <a:t>AI Specification Copilot: Interactive chat drawer (`ChatPanel.tsx`) allowing engineers to query catalog data.</a:t>
            </a:r>
            <a:br/>
            <a:r>
              <a:t>Cloud Permalinks: Shareable `/s/[slug]` public links powered by Google OAuth session authentication.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/>
          <p:cNvSpPr/>
          <p:nvPr/>
        </p:nvSpPr>
        <p:spPr>
          <a:xfrm>
            <a:off x="0" y="-1"/>
            <a:ext cx="9376348" cy="5426439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DECOUPLED TIERS // FAILOVER ENGINE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Architecture Diagram — Multi-Provider AI Failover Tiers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Multi-provider failover system guaranteeing 100% demo stability with zero single point of failure.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457200" y="1371600"/>
            <a:ext cx="177759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CLIENT LAYER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Next.js 14 App Router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Tailwind CSS + Nothing Theme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Three.js 3D Isometric Canvas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NDJSON Event Stream Listener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48640" y="1463040"/>
            <a:ext cx="548640" cy="201168"/>
          </a:xfrm>
          <a:prstGeom prst="round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718096"/>
                </a:solidFill>
                <a:latin typeface="Segoe UI"/>
              </a:defRPr>
            </a:pPr>
            <a:r>
              <a:t>TIER 1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331720" y="1371600"/>
            <a:ext cx="177759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API PIPELINE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api/pipeline/route.ts (Orchestrator)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api/ingest-pdf (Workerless pdf-parse)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api/ingest-url (Puppeteer/Fetch)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api/library (Cloud Sync)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423160" y="1463040"/>
            <a:ext cx="548640" cy="201168"/>
          </a:xfrm>
          <a:prstGeom prst="round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718096"/>
                </a:solidFill>
                <a:latin typeface="Segoe UI"/>
              </a:defRPr>
            </a:pPr>
            <a:r>
              <a:t>TIER 2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206240" y="1371600"/>
            <a:ext cx="1777593" cy="2926080"/>
          </a:xfrm>
          <a:prstGeom prst="roundRect">
            <a:avLst/>
          </a:prstGeom>
          <a:solidFill>
            <a:srgbClr val="181C26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DC2626"/>
                </a:solidFill>
                <a:latin typeface="Segoe UI"/>
              </a:defRPr>
            </a:pPr>
            <a:r>
              <a:t>FAILOVER CHAIN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FFFF"/>
                </a:solidFill>
                <a:latin typeface="Segoe UI"/>
              </a:rPr>
              <a:t>• Primary: Groq (gpt-oss-120b) ~8.5s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Backup 1: Gemini (2.5 Flash) on 429s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Backup 2: OpenRouter Free Pool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Offline: Shift+D Parser (products.ts)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297680" y="1463040"/>
            <a:ext cx="54864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TIER 3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080759" y="1371600"/>
            <a:ext cx="177759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STORAGE &amp; AUDIT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FFFF"/>
                </a:solidFill>
                <a:latin typeface="Segoe UI"/>
              </a:rPr>
              <a:t>• SHA-256 Extraction Cache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.specforge-cache/ (&lt;0.7s repeats)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Google OAuth User Sessions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Cloud Permalinks (/s/[slug])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172199" y="1463040"/>
            <a:ext cx="548640" cy="201168"/>
          </a:xfrm>
          <a:prstGeom prst="roundRect">
            <a:avLst/>
          </a:prstGeom>
          <a:solidFill>
            <a:srgbClr val="12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718096"/>
                </a:solidFill>
                <a:latin typeface="Segoe UI"/>
              </a:defRPr>
            </a:pPr>
            <a:r>
              <a:t>TIER 4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53"/>
          <p:cNvSpPr/>
          <p:nvPr/>
        </p:nvSpPr>
        <p:spPr>
          <a:xfrm>
            <a:off x="0" y="-1"/>
            <a:ext cx="9338872" cy="5314013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TECH STACK // FULL-STACK TOOLING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Technologies Used in Nexsus.Spec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TypeScript &amp; AI engineering stack built for high performance and rapid response times.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457200" y="137160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🌐 FRONTEND FRAMEWORK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Next.js 14 (App Router, Server Actions)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TypeScript &amp; React 18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Tailwind CSS &amp; Lucide Icons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Three.js &amp; React Three Fiber (3D Visualizer)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Framer Motion UI animations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251960" y="137160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⚡ AI &amp; LLM PROVIDERS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Groq API (openai/gpt-oss-120b reasoning)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Google Gemini API (gemini-2.5-flash backup)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OpenRouter API (z-ai/glm, gemma-4, nemotron)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Local Ollama compatibility (AI_BASE_URL)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57200" y="283464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🛠️ BACKEND &amp; PARSING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Workerless PDF Extractor (pdf-parse)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Deterministic Catalog Row Parser (`products.ts`)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Prose Line Spec Parser (`parseSpecLines`)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SHA-256 Crypto Extraction Cache (`.specforge-cache`)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251960" y="283464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☁️ AUTH &amp; EXPORT SUITE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Google OAuth 2.0 (`api/auth/google`)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Public Permalinks &amp; OpenGraph Generator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jsPDF Document Engine (Datasheets)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XLSX &amp; CSV Spreadsheet Exporters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/>
          <p:cNvSpPr/>
          <p:nvPr/>
        </p:nvSpPr>
        <p:spPr>
          <a:xfrm>
            <a:off x="0" y="-1"/>
            <a:ext cx="9458793" cy="5231567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COMMERCIAL VIABILITY // COST &amp; ROI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Estimated Implementation &amp; Operational Cost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Extremely cost-effective architecture leveraging serverless infrastructure and high-speed free tier AI pools.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457200" y="1371600"/>
            <a:ext cx="3566160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🎁 HACKATHON MVP COST ($0 / MO)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Vercel Hosting: </a:t>
            </a:r>
            <a:r>
              <a:rPr sz="1000" b="0">
                <a:solidFill>
                  <a:srgbClr val="FFFFFF"/>
                </a:solidFill>
              </a:rPr>
              <a:t>$0 / month (Serverless Hobby Tier)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Groq AI API: </a:t>
            </a:r>
            <a:r>
              <a:rPr sz="1000" b="0">
                <a:solidFill>
                  <a:srgbClr val="FFFFFF"/>
                </a:solidFill>
              </a:rPr>
              <a:t>$0 / month (8,000 TPM Free Reasoning Tier)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Gemini &amp; OpenRouter: </a:t>
            </a:r>
            <a:r>
              <a:rPr sz="1000" b="0">
                <a:solidFill>
                  <a:srgbClr val="FFFFFF"/>
                </a:solidFill>
              </a:rPr>
              <a:t>$0 / month (Free tier failover models)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Google OAuth &amp; Storage: </a:t>
            </a:r>
            <a:r>
              <a:rPr sz="1000" b="0">
                <a:solidFill>
                  <a:srgbClr val="FFFFFF"/>
                </a:solidFill>
              </a:rPr>
              <a:t>$0 / month (Standard Google Auth)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SHA-256 Cache: </a:t>
            </a:r>
            <a:r>
              <a:rPr sz="1000" b="0">
                <a:solidFill>
                  <a:srgbClr val="FFFFFF"/>
                </a:solidFill>
              </a:rPr>
              <a:t>$0 (Local filesystem / Serverless disk)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Total Hackathon Cost: </a:t>
            </a:r>
            <a:r>
              <a:rPr sz="1000" b="1">
                <a:solidFill>
                  <a:srgbClr val="22C55E"/>
                </a:solidFill>
              </a:rPr>
              <a:t>$0.00 — 100% Free Prototype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297680" y="1371600"/>
            <a:ext cx="360639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🏢 ENTERPRISE PRODUCTION SCALE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Vercel Pro Hosting: </a:t>
            </a:r>
            <a:r>
              <a:rPr sz="1000" b="0">
                <a:solidFill>
                  <a:srgbClr val="FFFFFF"/>
                </a:solidFill>
              </a:rPr>
              <a:t>~$20 / month (Team serverless deployment)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Commercial AI Inference: </a:t>
            </a:r>
            <a:r>
              <a:rPr sz="1000" b="0">
                <a:solidFill>
                  <a:srgbClr val="FFFFFF"/>
                </a:solidFill>
              </a:rPr>
              <a:t>~$0.001 – $0.003 per processed document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PostgreSQL / Supabase: </a:t>
            </a:r>
            <a:r>
              <a:rPr sz="1000" b="0">
                <a:solidFill>
                  <a:srgbClr val="FFFFFF"/>
                </a:solidFill>
              </a:rPr>
              <a:t>~$0 – $25 / month (Cloud library db scale)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Redis Extraction Cache: </a:t>
            </a:r>
            <a:r>
              <a:rPr sz="1000" b="0">
                <a:solidFill>
                  <a:srgbClr val="FFFFFF"/>
                </a:solidFill>
              </a:rPr>
              <a:t>~$10 / month (Upstash serverless Redis)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Estimated Operations: </a:t>
            </a:r>
            <a:r>
              <a:rPr sz="1000" b="1">
                <a:solidFill>
                  <a:srgbClr val="FFFFFF"/>
                </a:solidFill>
              </a:rPr>
              <a:t>~$25 – $50 / month for 100k+ docs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718096"/>
                </a:solidFill>
              </a:rPr>
              <a:t>• ROI Impact: </a:t>
            </a:r>
            <a:r>
              <a:rPr sz="1000" b="1">
                <a:solidFill>
                  <a:srgbClr val="EF4444"/>
                </a:solidFill>
              </a:rPr>
              <a:t>Replaces $4,000/mo manual data entry labor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/>
          <p:cNvSpPr/>
          <p:nvPr/>
        </p:nvSpPr>
        <p:spPr>
          <a:xfrm>
            <a:off x="0" y="0"/>
            <a:ext cx="9638675" cy="5516380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PRODUCT WALKTHROUGH // FUNCTIONAL MVP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Snapshots of the Working MVP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Live application walkthrough highlighting core functional interfaces and feature modules.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457200" y="137160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MULTI-INPUT INGEST STUDIO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PDF Drag &amp; Drop (10MB limit)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Raw Spec Text &amp; Catalog Rows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Live Web URL Ingest (`api/ingest-url`)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Preset Sample Buttons (Electronics, Industrial, Rows)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251960" y="137160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2. 3D ISOMETRIC PIPELINE STREAM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Real-time Three.js isometric stage visualizer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Live NDJSON event progress streaming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Stage Console &amp; activity feed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Instant Shift+D offline hotkey toggle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57200" y="283464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SEARCHABLE SPEC DASHBOARD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Stats Strip: Extracted counts &amp; quality score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Real-time search across names &amp; spec values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Brand filter chips &amp; sorting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Product Cards with attribute:value rows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251960" y="283464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4. SPEC COMPARE &amp; AI COPILOT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Side-by-side spec comparison matrix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AI Specification Copilot drawer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Data Quality Audit &amp; gap warnings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A0AEC0"/>
                </a:solidFill>
                <a:latin typeface="Segoe UI"/>
              </a:rPr>
              <a:t>• Public Cloud Permalinks (`/s/[slug]`)</a:t>
            </a: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/>
          <p:cNvSpPr/>
          <p:nvPr/>
        </p:nvSpPr>
        <p:spPr>
          <a:xfrm>
            <a:off x="0" y="0"/>
            <a:ext cx="9975954" cy="5403954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PRODUCT ROADMAP // STRATEGIC HORIZONS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Additional Details &amp; Future Development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Strategic roadmap for scaling Nexsus.Spec into enterprise PIM/ERP ecosystems.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ounded Rectangle 174"/>
          <p:cNvSpPr/>
          <p:nvPr/>
        </p:nvSpPr>
        <p:spPr>
          <a:xfrm>
            <a:off x="457200" y="137160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        📐 Multi-Modal Technical Ingestion</a:t>
            </a:r>
          </a:p>
          <a:p>
            <a:pPr>
              <a:defRPr sz="1000">
                <a:solidFill>
                  <a:srgbClr val="A0AEC0"/>
                </a:solidFill>
                <a:latin typeface="Segoe UI"/>
              </a:defRPr>
            </a:pPr>
            <a:r>
              <a:t>Extend pipeline to directly process complex CAD drawings, electrical schematics, and multi-page engineering blueprints using multimodal vision models.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94360" y="1508760"/>
            <a:ext cx="68580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251960" y="137160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        🔌 Enterprise PIM &amp; ERP Connectors</a:t>
            </a:r>
          </a:p>
          <a:p>
            <a:pPr>
              <a:defRPr sz="1000">
                <a:solidFill>
                  <a:srgbClr val="A0AEC0"/>
                </a:solidFill>
                <a:latin typeface="Segoe UI"/>
              </a:defRPr>
            </a:pPr>
            <a:r>
              <a:t>Build native sync integrations with industrial catalog software including SAP, Shopify Plus, Akeneo PIM, and Pimcore.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4389120" y="1508760"/>
            <a:ext cx="68580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57200" y="283464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        🔒 Air-Gapped Local LLM Deployments</a:t>
            </a:r>
          </a:p>
          <a:p>
            <a:pPr>
              <a:defRPr sz="1000">
                <a:solidFill>
                  <a:srgbClr val="A0AEC0"/>
                </a:solidFill>
                <a:latin typeface="Segoe UI"/>
              </a:defRPr>
            </a:pPr>
            <a:r>
              <a:t>Package quantized 7B/14B models for on-premise air-gapped deployment in high-security defense and industrial manufacturing plants.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94360" y="2971800"/>
            <a:ext cx="68580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Q1 2027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251960" y="2834640"/>
            <a:ext cx="3611880" cy="137160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        🔍 Cross-Catalog Vector Search (RAG)</a:t>
            </a:r>
          </a:p>
          <a:p>
            <a:pPr>
              <a:defRPr sz="1000">
                <a:solidFill>
                  <a:srgbClr val="A0AEC0"/>
                </a:solidFill>
                <a:latin typeface="Segoe UI"/>
              </a:defRPr>
            </a:pPr>
            <a:r>
              <a:t>Implement multi-catalog vector embeddings for instant cross-manufacturer part cross-referencing and substitute product recommendations.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389120" y="2971800"/>
            <a:ext cx="68580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Q2 2027</a:t>
            </a: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/>
          <p:cNvSpPr/>
          <p:nvPr/>
        </p:nvSpPr>
        <p:spPr>
          <a:xfrm>
            <a:off x="0" y="0"/>
            <a:ext cx="9930984" cy="5143500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PROJECT DELIVERABLES // OFFICIAL LINKS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Provide Links to Your Deliverables — Team Nexsus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Access the public source code repository, 3-minute video walkthrough, and working web application.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ounded Rectangle 180"/>
          <p:cNvSpPr/>
          <p:nvPr/>
        </p:nvSpPr>
        <p:spPr>
          <a:xfrm>
            <a:off x="457200" y="1371600"/>
            <a:ext cx="744687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200"/>
              </a:spcAft>
              <a:defRPr sz="1500" b="1">
                <a:solidFill>
                  <a:srgbClr val="DC2626"/>
                </a:solidFill>
                <a:latin typeface="Segoe UI"/>
              </a:defRPr>
            </a:pPr>
            <a:r>
              <a:t>🔗 OFFICIAL HACKATHON DELIVERABLES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</a:rPr>
              <a:t>🌐 Working Prototype Link (Live Web Deployment)
</a:t>
            </a:r>
            <a:r>
              <a:rPr sz="1250" b="1">
                <a:solidFill>
                  <a:srgbClr val="EF4444"/>
                </a:solidFill>
              </a:rPr>
              <a:t>   👉 https://nexsus-spec.vercel.app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</a:rPr>
              <a:t>🐙 GitHub Public Repository (Source Code)
</a:t>
            </a:r>
            <a:r>
              <a:rPr sz="1250" b="1">
                <a:solidFill>
                  <a:srgbClr val="EF4444"/>
                </a:solidFill>
              </a:rPr>
              <a:t>   👉 https://github.com/abhinav2050790/final-production-build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</a:rPr>
              <a:t>🎥 Demo Video Link (3-Minute Walkthrough)
</a:t>
            </a:r>
            <a:r>
              <a:rPr sz="1250" b="1">
                <a:solidFill>
                  <a:srgbClr val="EF4444"/>
                </a:solidFill>
              </a:rPr>
              <a:t>   👉 https://nexsus-spec.vercel.app/demo-video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83"/>
          <p:cNvSpPr/>
          <p:nvPr/>
        </p:nvSpPr>
        <p:spPr>
          <a:xfrm>
            <a:off x="0" y="-1"/>
            <a:ext cx="9915993" cy="5381469"/>
          </a:xfrm>
          <a:prstGeom prst="rect">
            <a:avLst/>
          </a:prstGeom>
          <a:solidFill>
            <a:srgbClr val="06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57200" y="274320"/>
            <a:ext cx="744687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C2626"/>
                </a:solidFill>
                <a:latin typeface="Segoe UI"/>
              </a:defRPr>
            </a:pPr>
            <a:r>
              <a:t>EXECUTIVE CONCLUSION // TEAM NEXSUS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Thank You! — Nexsus.Spec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RAW NOTES IN. SHARP SPECS OUT.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57200" y="1234440"/>
            <a:ext cx="1371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731520" y="1371600"/>
            <a:ext cx="6898233" cy="2926080"/>
          </a:xfrm>
          <a:prstGeom prst="roundRect">
            <a:avLst/>
          </a:prstGeom>
          <a:solidFill>
            <a:srgbClr val="12161E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DC2626"/>
                </a:solidFill>
                <a:latin typeface="Segoe UI"/>
              </a:defRPr>
            </a:pPr>
            <a:r>
              <a:t>❤️ THANK YOU JUDGES, MENTORS &amp; ORGANIZERS!</a:t>
            </a:r>
          </a:p>
          <a:p>
            <a:pPr algn="ctr"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</a:rPr>
              <a:t>Nexsus.Spec represents our passion, continuous learning, and commitment as first-time hackathon developers.</a:t>
            </a:r>
          </a:p>
          <a:p>
            <a:pPr algn="ctr"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</a:rPr>
              <a:t>We built a robust, zero-downtime industrial specification forge that solves real enterprise document pain.</a:t>
            </a:r>
          </a:p>
          <a:p>
            <a:pPr algn="ctr">
              <a:spcAft>
                <a:spcPts val="800"/>
              </a:spcAft>
            </a:pPr>
            <a:r>
              <a:rPr sz="1200">
                <a:solidFill>
                  <a:srgbClr val="EF4444"/>
                </a:solidFill>
              </a:rPr>
              <a:t>Try our live web app today: https://nexsus-spec.vercel.app</a:t>
            </a:r>
          </a:p>
          <a:p>
            <a:pPr algn="ctr"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</a:rPr>
              <a:t>Press Shift+D during live judging to experience instant zero-latency deterministic parsing!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2379</Words>
  <Application>Microsoft Office PowerPoint</Application>
  <PresentationFormat>On-screen Show (16:9)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Segoe UI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Shreyansh Bharti</cp:lastModifiedBy>
  <cp:revision>1</cp:revision>
  <dcterms:modified xsi:type="dcterms:W3CDTF">2026-08-23T16:14:42Z</dcterms:modified>
</cp:coreProperties>
</file>